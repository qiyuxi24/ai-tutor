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2" r:id="rId22"/>
    <p:sldId id="258" r:id="rId5"/>
    <p:sldId id="259" r:id="rId6"/>
    <p:sldId id="273" r:id="rId23"/>
    <p:sldId id="260" r:id="rId7"/>
    <p:sldId id="261" r:id="rId8"/>
    <p:sldId id="262" r:id="rId9"/>
    <p:sldId id="263" r:id="rId10"/>
    <p:sldId id="264" r:id="rId11"/>
    <p:sldId id="265" r:id="rId12"/>
    <p:sldId id="267" r:id="rId14"/>
    <p:sldId id="268" r:id="rId15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Relationship Id="rId22" Type="http://schemas.openxmlformats.org/officeDocument/2006/relationships/slide" Target="slides/slide2.xml"/><Relationship Id="rId23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 20 秒：一句话说清我们是什么——面向大学生自学的 AI 导学 Agent，核心差异是知识图谱不只用来看，而是用来决定'下一步教什么'。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先立'方法论正确性'：这不是我们的主观判断，有两篇实证研究支撑。再引出三个痛点，每个痛点后面都会对应一个功能。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对比表不要逐格念，只强调最后一行：可解释性。评委最容易追的问题是'你和 ChatGPT 有什么区别'，答案就在'下一步'而不是'回答质量'。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架构页讲两件事：模块边界清楚（谁负责什么），以及每个选择都写得出代价。评委问'为什么不用 PostgreSQL'，就从'单机零运维 vs 写并发取舍'回答。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这是最核心的一页。若评委只记住一件事，就是'图谱不是装饰，它在算下一步'。现场可演示：点开路径面板，指出同层是按掌握度升序排的。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重点是'流式'的工程含义：不是把字打出来好看，而是把工具循环的延迟移出学生的等待。被追问时给出护栏数字，说明我们考虑过失控场景。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这页必须主动交代评测现状：真实 embedding 的消融正在补，绝不拿 mock 数据充数。主动说'数据还没跑完'比被问出来安全得多。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这页是'AI 应用工程化'的亮点页：我们不是只会调 API，而是把缓存机理按实测搞清楚了。注意口径：命中率与 token 是供应商真值，金额是估算。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功能页不逐个演示，只说明'每一条都有对应实现与测试'。若时间紧，这张表可以直接替代现场演示。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部署页要回答'评委能不能自己验证'。二维码必须配凭据说明，否则评委扫码后被网关拦住，反而扣分。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场景要具体到'谁在什么时间用它做什么'。主场景锚定课程自学，这同时对齐赛题2 的'软件产品落地'与后续 B 端采购的关注点。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收尾要稳：先把不足说透（官方大纲明确要求），再给路线图，最后把评审入口递上去。不要用'未来可期'这类空话。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附录页只给证据，不展开讲。若评委问'这些数据从哪来'，指向这一页与 P11 的测试命令。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30 秒用这一页：先给主张，再给三段结构。后面每页都回扣「我们优化下一步」。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这页是全场的主线页。现场演示就按①②③④走一遍，约 60 秒。若时间不够，只演①④，也能说明「图谱在算下一步」。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7.xml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9572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54864"/>
          </a:xfrm>
          <a:prstGeom prst="rect">
            <a:avLst/>
          </a:prstGeom>
          <a:solidFill>
            <a:srgbClr val="FFC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TutorAgent</a:t>
            </a:r>
            <a:endParaRPr sz="4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E4D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知识图谱驱动的自适应导学 Agent</a:t>
            </a:r>
            <a:endParaRPr sz="2200" b="0">
              <a:solidFill>
                <a:srgbClr val="E4DC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67665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不是又一个问答机器人</a:t>
            </a:r>
            <a:r>
              <a:rPr sz="170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，而是把学习过程变成</a:t>
            </a:r>
            <a:r>
              <a:rPr sz="17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有地图、有路径、有记忆、有反馈</a:t>
            </a:r>
            <a:r>
              <a:rPr sz="170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的主动导学系统。</a:t>
            </a:r>
            <a:endParaRPr sz="17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5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技术主线：</a:t>
            </a:r>
            <a:r>
              <a:rPr sz="13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知识图谱即教学决策的状态机 + 两阶段流式 Agent + 混合检索 RAG</a:t>
            </a:r>
            <a:endParaRPr sz="13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955279" y="2880360"/>
            <a:ext cx="3410712" cy="2377440"/>
          </a:xfrm>
          <a:prstGeom prst="roundRect">
            <a:avLst>
              <a:gd name="adj" fmla="val 4000"/>
            </a:avLst>
          </a:prstGeom>
          <a:solidFill>
            <a:srgbClr val="F7F6FB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参赛信息</a:t>
            </a:r>
            <a:endParaRPr sz="12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作品名称：TutorAgent</a:t>
            </a: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参赛编号：</a:t>
            </a:r>
            <a:r>
              <a:rPr lang="en-US" altLang="zh-CN" sz="11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AIC-2026-81003856</a:t>
            </a:r>
            <a:endParaRPr lang="en-US" altLang="zh-CN" sz="11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团队名称：</a:t>
            </a:r>
            <a:r>
              <a:rPr lang="zh-CN" altLang="en-US" sz="11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星图引航</a:t>
            </a:r>
            <a:endParaRPr lang="zh-CN" altLang="en-US" sz="11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赛题：</a:t>
            </a: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赛题2 · AI+软件创新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10 月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89720" y="1691640"/>
            <a:ext cx="2377440" cy="3657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zh-CN" sz="1400">
                <a:solidFill>
                  <a:srgbClr val="E4DCFF"/>
                </a:solidFill>
              </a:rPr>
              <a:t>AIC-2026-81003856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/>
                <a:ea typeface="微软雅黑"/>
                <a:cs typeface="微软雅黑"/>
              </a:rPr>
              <a:t>一页看懂 TutorAgent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是什么 / 怎么做 / 凭什么 —— 30 秒建立全局认知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2026 第八届全球校园人工智能算法精英大赛 · 算法创新赛 · 赛题2 AI+软件创新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3566160" cy="2971800"/>
          </a:xfrm>
          <a:prstGeom prst="roundRect">
            <a:avLst>
              <a:gd name="adj" fmla="val 5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/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6D4AE0"/>
                </a:solidFill>
                <a:latin typeface="微软雅黑"/>
                <a:ea typeface="微软雅黑"/>
                <a:cs typeface="微软雅黑"/>
              </a:rPr>
              <a:t>是什么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微软雅黑"/>
                <a:ea typeface="微软雅黑"/>
                <a:cs typeface="微软雅黑"/>
              </a:rPr>
              <a:t>·  面向大学生自学的 AI 导学 Agent。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微软雅黑"/>
                <a:ea typeface="微软雅黑"/>
                <a:cs typeface="微软雅黑"/>
              </a:rPr>
              <a:t>·  不是问答机器人，而是把学习过程变成有地图、有路径、有记忆、有反馈的主动导学系统。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81328"/>
            <a:ext cx="3566160" cy="2971800"/>
          </a:xfrm>
          <a:prstGeom prst="roundRect">
            <a:avLst>
              <a:gd name="adj" fmla="val 5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/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6D4AE0"/>
                </a:solidFill>
                <a:latin typeface="微软雅黑"/>
                <a:ea typeface="微软雅黑"/>
                <a:cs typeface="微软雅黑"/>
              </a:rPr>
              <a:t>怎么做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微软雅黑"/>
                <a:ea typeface="微软雅黑"/>
                <a:cs typeface="微软雅黑"/>
              </a:rPr>
              <a:t>·  图谱即教学状态机：决定「下一步学什么」；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微软雅黑"/>
                <a:ea typeface="微软雅黑"/>
                <a:cs typeface="微软雅黑"/>
              </a:rPr>
              <a:t>·  两阶段流式 Agent：把工具等待移出交互路径；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微软雅黑"/>
                <a:ea typeface="微软雅黑"/>
                <a:cs typeface="微软雅黑"/>
              </a:rPr>
              <a:t>·  混合检索：回答有据可依，查不查由模型自己定。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7" y="1481328"/>
            <a:ext cx="3566160" cy="2971800"/>
          </a:xfrm>
          <a:prstGeom prst="roundRect">
            <a:avLst>
              <a:gd name="adj" fmla="val 5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/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6D4AE0"/>
                </a:solidFill>
                <a:latin typeface="微软雅黑"/>
                <a:ea typeface="微软雅黑"/>
                <a:cs typeface="微软雅黑"/>
              </a:rPr>
              <a:t>凭什么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微软雅黑"/>
                <a:ea typeface="微软雅黑"/>
                <a:cs typeface="微软雅黑"/>
              </a:rPr>
              <a:t>·  60 秒可现场演完的教学闭环；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微软雅黑"/>
                <a:ea typeface="微软雅黑"/>
                <a:cs typeface="微软雅黑"/>
              </a:rPr>
              <a:t>·  离线全量 1597 例测试 0 失败；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微软雅黑"/>
                <a:ea typeface="微软雅黑"/>
                <a:cs typeface="微软雅黑"/>
              </a:rPr>
              <a:t>·  真实运行记录落库，可按 id 回放。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681728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EF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6D4AE0"/>
                </a:solidFill>
                <a:latin typeface="微软雅黑"/>
                <a:ea typeface="微软雅黑"/>
                <a:cs typeface="微软雅黑"/>
              </a:rPr>
              <a:t>一句话主张：同行优化「答案」，我们优化「下一步」—— 把学习过程变成可累积、可测量的私有数据资产。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F232B"/>
                </a:solidFill>
                <a:latin typeface="微软雅黑"/>
                <a:ea typeface="微软雅黑"/>
                <a:cs typeface="微软雅黑"/>
              </a:rPr>
              <a:t>学生看得见进度；教师拿得到可审计的过程证据；学校可本地化部署、按用户隔离。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直接给答案会让人变差：撤掉 AI 后 −17%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54864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证据一：</a:t>
            </a:r>
            <a:r>
              <a:rPr sz="16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直接给答案会形成依赖陷阱。</a:t>
            </a:r>
            <a:endParaRPr sz="16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  Bastani 2025 随机对照实验：直接给答案组撤掉 AI 后 −17%；引导式教学组 +127%，撤掉后无负效应。</a:t>
            </a: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25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证据二：</a:t>
            </a:r>
            <a:r>
              <a:rPr sz="16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被动接收 ≠ 学会。</a:t>
            </a:r>
            <a:endParaRPr sz="16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  </a:t>
            </a: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Karpicke &amp; Roediger (2008, Science)：</a:t>
            </a:r>
            <a:r>
              <a:rPr sz="125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一周后保留率：被动接收答案 36–40% vs 主动检索 61–81%。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sz="13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学习工具的分水岭不是'答得准不准'，而是'有没有把人拉进主动加工'。</a:t>
            </a:r>
            <a:endParaRPr sz="13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5080" y="1463040"/>
            <a:ext cx="5276088" cy="4023360"/>
          </a:xfrm>
          <a:prstGeom prst="roundRect">
            <a:avLst>
              <a:gd name="adj" fmla="val 4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01168" rIns="237744" rtlCol="0" anchor="ctr"/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三个衍生痛点（面向大学生自学）</a:t>
            </a:r>
            <a:endParaRPr sz="15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知识碎片化，没有地图</a:t>
            </a:r>
            <a:endParaRPr sz="13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1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学到的知识点彼此孤立，不知道先学什么、还缺什么。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学完没有反馈</a:t>
            </a:r>
            <a:endParaRPr sz="13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1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听懂了不等于会做，缺少'会不会'的客观测量。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笔记与知识脱节</a:t>
            </a:r>
            <a:endParaRPr sz="13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1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对话结束即遗忘，资料、笔记、练习各说各话。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我们的选择：</a:t>
            </a:r>
            <a:r>
              <a:rPr sz="120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用图谱承载结构、用判分承载反馈、用节点沉淀笔记 —— 三个痛点对应同一套数据模型。</a:t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同行优化「答案」，我们优化「下一步」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64239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993"/>
                <a:gridCol w="2212848"/>
                <a:gridCol w="2212848"/>
                <a:gridCol w="1991563"/>
                <a:gridCol w="3097987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通用 AI 对话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知识管理工具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在线课程平台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TutorAgent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知识沉淀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对话完即忘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本地笔记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课程收藏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图谱 + 画像 + 小节笔记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学习路径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不规划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靠用户自己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目录固定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Kahn 拓扑 + 掌握度排序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个体差异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千人一面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仅手动标签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统一视频与题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每节点 0–1 掌握度实时更新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教学方式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问什么答什么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被动润色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视频播放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先问再讲，不直接给答案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可解释性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每次'下一步'可回溯到图谱与判分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4956048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EF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差异化的落点：</a:t>
            </a:r>
            <a:r>
              <a:rPr sz="130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同行都在做'更好的回答'，我们做的是'更好的下一步' —— 把学习过程变成可累积、可测量的私有数据资产（用户自己的图谱 + 资料溯源账本 + 判分记录），这既无法被通用模型直接替代，也是教师与学校最关心的'过程证据'。</a:t>
            </a:r>
            <a:endParaRPr sz="13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/>
                <a:ea typeface="微软雅黑"/>
                <a:cs typeface="微软雅黑"/>
              </a:rPr>
              <a:t>60 秒闭环：图谱 → 学习 → 出题 → 判分 → 路径重排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这条闭环是本作品的主线，也是现场可演示的部分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2026 第八届全球校园人工智能算法精英大赛 · 算法创新赛 · 赛题2 AI+软件创新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02352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EF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4AE0"/>
                </a:solidFill>
                <a:latin typeface="微软雅黑"/>
                <a:ea typeface="微软雅黑"/>
                <a:cs typeface="微软雅黑"/>
              </a:rPr>
              <a:t>闭环动线：图谱定位 → 学习会话（先问再讲）→ 出题 → 判分回写掌握度 → 「下一步」路径重排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15584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F232B"/>
                </a:solidFill>
                <a:latin typeface="微软雅黑"/>
                <a:ea typeface="微软雅黑"/>
                <a:cs typeface="微软雅黑"/>
              </a:rPr>
              <a:t>为什么这条闭环是护城河：掌握度只能由真实作答推动，所以「下一步」不是猜的；图谱既是教学边界、也是决策依据 —— 同一学生同一状态，结果可复现、可复核。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572000"/>
            <a:ext cx="5394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6D4AE0"/>
                </a:solidFill>
                <a:latin typeface="微软雅黑"/>
                <a:ea typeface="微软雅黑"/>
                <a:cs typeface="微软雅黑"/>
              </a:rPr>
              <a:t>① 学习会话：先问再讲、只讲一节，思考过程可折叠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4572000"/>
            <a:ext cx="5394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6D4AE0"/>
                </a:solidFill>
                <a:latin typeface="微软雅黑"/>
                <a:ea typeface="微软雅黑"/>
                <a:cs typeface="微软雅黑"/>
              </a:rPr>
              <a:t>② 图谱定位：122 个知识点 / 229 条先修边，四色即掌握度分档</a:t>
            </a:r>
          </a:p>
        </p:txBody>
      </p:sp>
      <p:pic>
        <p:nvPicPr>
          <p:cNvPr id="22" name="Picture 21" descr="zoom_tea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706" y="1463040"/>
            <a:ext cx="5393403" cy="3035808"/>
          </a:xfrm>
          <a:prstGeom prst="rect">
            <a:avLst/>
          </a:prstGeom>
        </p:spPr>
      </p:pic>
      <p:pic>
        <p:nvPicPr>
          <p:cNvPr id="23" name="Picture 22" descr="zoom_grap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3167" y="1463040"/>
            <a:ext cx="5281041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四层架构：每个关键选型都写得出代价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6972"/>
            <a:ext cx="6903720" cy="35554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371600"/>
            <a:ext cx="3904487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三个关键选型及其代价</a:t>
            </a:r>
            <a:endParaRPr sz="15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SQLite 单文件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零运维、可整库备份；代价是写并发靠单进程串行化（见 P14 路线图）。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对话与嵌入解耦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嵌入固定 text-embedding-v4 保检索稳定；对话模型每用户可换（主备自动降级），换模型不影响索引。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工具一文件一注册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新增能力 = 1 个模块 + 1 行注册，提示词与分发自动生效；一致性由测试锁死。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T1｜图谱不是装饰，它在算「下一步学什么」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掌握度由判分唯一驱动，路径由图谱算出 —— 每一步都可解释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4992624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实机截图：学习路径面板（按前置关系 + 掌握度排序，同层按掌握度升序）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20840" y="1417320"/>
            <a:ext cx="491032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三层数据模型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学科 → 知识板块 → 知识点；知识点之间是 prerequisite 先修边；一个知识点可拆成若干平行小节，小节不参与图渲染。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掌握度唯一主信号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只有学生的真实作答判分能改掌握度；手动改掌握度的入口已全部删除，防止'刷分'。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判定与顺序单点化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'该学/未掌握'的判定与'下一步'排序全项目只定义 1 处；'下一步'= 前置未达标排后 → 掌握度升序 → 稳定 id。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为什么是状态机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图谱同时承担教学边界（能看见）与决策依据（下一步做什么），所以对同一学生同一状态，答案是可复现的。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zoom_pa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469200"/>
            <a:ext cx="5943600" cy="3416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T2｜把工具调用的等待，从学生眼前移走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把大模型工具调用的延迟，从交互路径里剥出去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Picture 7" descr="two_ph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943600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1417320"/>
            <a:ext cx="491032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1 先回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教学文本流式送达；学生先看到思路与提问（默认苏格拉底式追问，不直接给答案）。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2 后台做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同一轮内继续多轮工具调用：建/改图谱、写画像、按需检索 —— 学生感知到的停顿被压在前台之外。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个原生工具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图谱读写、检索、出题判分、画像、导出等；一工具一文件一注册，提示词与执行分发自动同步。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护栏与可恢复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轮数/超时/重复调用/连续失败/墙钟五道闸；每次运行落库可回放，终止原因可查（natural / max_rounds / time_budget / fail_circuit…）。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T3｜回答有据可依，查不查由模型自己定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回答有据可依，且'要不要查、查哪里'交给模型决定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Picture 7" descr="ra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943600" cy="27432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4343400"/>
          <a:ext cx="5943600" cy="1078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  <a:gridCol w="1901952"/>
                <a:gridCol w="2615184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检索源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触发方式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图谱结构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每次必达（不受节流）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教学的唯一边界：有哪些知识点必须可见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图谱片段 / 知识库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按需检索 + 过路由节流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回答依据，带文件名/路径溯源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20840" y="1417320"/>
            <a:ext cx="491032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双路召回 + RRF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稠密向量与稀疏 BM25 各取 30 条，按排名融合，避免单路偏科；中文 BM25 自研 CJK 切分（不依赖分词库）。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Agentic 检索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rag_search 是工具而非固定流程：模型自主决定是否检索、检索图谱还是知识库，并把来源写进回答。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失败隔离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单源 8 秒超时 + 异常隔离；某一路挂了对话照常继续（静默降级）。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可验证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评测脚本一键复现；当前在补真实 embedding 下的消融与 baseline 对比。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工程与质量｜成本、延迟、缓存、测试都有实测值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上下文预算 + Prompt 缓存：累计口径实测命中 65.5%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EF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实测机理（探针脚本五组对照）：缓存是「整请求前缀匹配」—— 命中 = 曾完整发过的请求是本轮请求的逐字节前缀；只共享前段或重排段序都不给分（重排实测零收益，已否决）。</a:t>
            </a:r>
            <a:r>
              <a:rPr sz="12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3063240"/>
            <a:ext cx="53949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会话链路实测（本机累计 3,480 次 LLM 调用汇总；运维后台可按 7 天窗口实时查看）</a:t>
            </a:r>
            <a:endParaRPr sz="14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缓存命中率（agent_loop，累计口径）：</a:t>
            </a:r>
            <a:r>
              <a:rPr sz="1300" b="1">
                <a:solidFill>
                  <a:srgbClr val="1E8E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65.5%</a:t>
            </a:r>
            <a:endParaRPr sz="1300" b="1">
              <a:solidFill>
                <a:srgbClr val="1E8E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cached / prompt tokens：</a:t>
            </a:r>
            <a:r>
              <a:rPr sz="13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917,167 / 1,400,688</a:t>
            </a:r>
            <a:endParaRPr sz="13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对话调用延迟 p50：</a:t>
            </a:r>
            <a:r>
              <a:rPr sz="13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2.21 s</a:t>
            </a:r>
            <a:endParaRPr sz="13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对话调用延迟 p95：</a:t>
            </a:r>
            <a:r>
              <a:rPr sz="13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13.29 s（n=193）</a:t>
            </a:r>
            <a:endParaRPr sz="13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55080" y="3063240"/>
            <a:ext cx="527608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质量与可信度（实测）</a:t>
            </a:r>
            <a:endParaRPr sz="14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离线全量测试 1597 例 0 失败；运维后台 41 例；前端 10 例。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代码规模：后端 149 个 .py / 25,878 行；前端 59 / 15,323 行。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真实运行 30 次 run（4 个用户）/ 3,480 次 LLM 调用，证据落库可按 id 回放。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三条不变量由测试锁死：请求内事件只走私有队列 / 数据按用户隔离 / 上传原子化。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六个功能，一条能现场演完的闭环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26464"/>
          <a:ext cx="11064239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63"/>
                <a:gridCol w="4868265"/>
                <a:gridCol w="4204411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学生看到的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背后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对话导学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思考过程可折叠、正文流式、公式渲染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 Loop + 13 工具 + 护栏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知识图谱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四色掌握度、路径高亮、节点详情与小节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图谱 CRUD + 拓扑 + 掌握度账本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学习进度仪表盘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掌握/学习中/薄弱统计、薄弱点 Top、下一步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图谱 + 判分记录聚合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按小节教学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开场只报菜单 → 先问再讲 → 只讲一节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学习会话 + 教学策略模块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出题判分闭环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题卡 → 作答 → 判分结论单独成行 → 小节通过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出题去重 + 判分回写掌握度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知识库检索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上传 PDF/Word/PPT/图片 → 回答带来源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解析分块 + 混合检索 + 原件预览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评委自己就能验证：扫码即用 + 一键复现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评审可自行验证：在线实例 + 一键本地复现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6858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部署形态</a:t>
            </a:r>
            <a:endParaRPr sz="15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单容器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Compose 一键起：容器内 Nginx 静态站 + Uvicorn 服务，数据卷持久化，健康检查已接入。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进程模型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刻意使用单 worker：事件总线与进程内调度依赖单进程，换来事件不丢与写入串行化（水平扩展见 P14）。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一键脚本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install.ps1 / start.ps1 覆盖依赖安装与环境自检；支持 Docker 与本机两种模式自动探测。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在线演示</a:t>
            </a:r>
            <a:endParaRPr sz="15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http://47.98.160.194</a:t>
            </a: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（网关认证后进入；演示账号见二维码旁标注）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5394960"/>
            <a:ext cx="685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评审复现：</a:t>
            </a:r>
            <a:r>
              <a:rPr sz="120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clone → pytest（离线全量 1597 例）→ docker compose up → 打开即用。</a:t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qr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8948" y="1463040"/>
            <a:ext cx="2765672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三类场景 + 按校订阅：市场与商业路径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三类真实使用场景，每一类都有可观察的结果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63040"/>
          <a:ext cx="1106423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5089550"/>
                <a:gridCol w="3761841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怎么用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可观察的结果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课程自学（主场景）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上传课程教材 → 自动生成图谱 → 按先修顺序逐节学习 → 出题自测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知识点从零散到成图；单本教材建图为分钟级后台任务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考前复习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仪表盘看薄弱点 → 针对薄弱小节出题 → 判分后掌握度与路径同步变化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薄弱点可枚举、可追踪；复习不再靠翻笔记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资料驱动的课程补齐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把开放许可资料（如公开课/开源教材）入库，作为空学科的建图底座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低成本把'没有课件'的课程变成结构化学习路径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663440"/>
            <a:ext cx="11064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市场与商业（公开数据，标注口径）</a:t>
            </a:r>
            <a:endParaRPr sz="14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AI+教育 B 端市场：2023 年 213 亿元 → 2027 年约 477 亿元（CAGR ≈ 22%，艾瑞）。</a:t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大学生在线教育：52% 曾付费，学业提分是第一动机（中青校媒 4,480 份）。</a:t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高校软件采购：公开中标按校 10–24 万/学年（超星、智慧树等）。</a:t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商业路径：校内课程自学验证留存 → 学习过程证据切入教师与院系 → 按校/按学年订阅。</a:t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我们主动写下三个不足，并各给一条路线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官方大纲要求正面分析不足 —— 我们把每一项不足都对应到一条工程路线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63040"/>
          <a:ext cx="11064239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702"/>
                <a:gridCol w="4204411"/>
                <a:gridCol w="398312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当前不足（诚实列出）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影响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路线图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6D4AE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并发能力受单进程约束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事件总线与调度在进程内，无法多实例水平扩展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M2：per-user 队列/限流/调度外置到 Redis，多 worker 化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检索评测待补真实向量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现有消融基于 mock 弱向量，尚不能对外声称精度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M1：真实 embedding 复跑 CMR 集 + baseline 三方对比，报告 JSON 落库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复习调度尚未落地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掌握度已进路径，但还没有间隔重复与错题队列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M1：基于判分事件派生到期队列，复用通知通道主动推题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AFA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掌握度模型为启发式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当前是判分累加，不是知识追踪模型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M3：用 BKT/DKT 类模型替换，产出可对外讲的预测指标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4681728"/>
            <a:ext cx="7635240" cy="1508760"/>
          </a:xfrm>
          <a:prstGeom prst="roundRect">
            <a:avLst>
              <a:gd name="adj" fmla="val 5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tlCol="0" anchor="ctr"/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总结：用一套可解释的数据模型（图谱 + 判分账本）把'下一步学什么'做成可复现的工程问题；下一步不是加功能，而是补齐并发、评测与调度三块工程化短板。</a:t>
            </a:r>
            <a:r>
              <a:rPr sz="120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road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4995" y="4681728"/>
            <a:ext cx="3213658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附录：判分闭环与运维观测实证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以下为实机截图，未做美化；数据口径与运行环境见 P10 / P12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4517136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出题判分闭环（实机截图）：题卡作答 → 判分结论与解析单独成行 → 掌握度与学习路径同步更新。</a:t>
            </a:r>
            <a:endParaRPr sz="10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91072" y="4517136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运维后台「用量与缓存命中」（近 7 天窗口）：调用次数、输入/输出 token、缓存命中与实付金额，并按功能拆分。累计口径见 P8。</a:t>
            </a:r>
            <a:endParaRPr sz="10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5157216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6D4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运维与合规：</a:t>
            </a:r>
            <a:r>
              <a:rPr sz="1150" b="0">
                <a:solidFill>
                  <a:srgbClr val="1F23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全部业务数据按用户隔离；② 运维后台提供审计日志与删号全介质清理（含原件、索引与运行记录）；③ 用量面板取自供应商返回的 usage 真值，金额为估算并单列说明。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12" descr="zoom_gr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494042"/>
            <a:ext cx="5486400" cy="2818356"/>
          </a:xfrm>
          <a:prstGeom prst="rect">
            <a:avLst/>
          </a:prstGeom>
        </p:spPr>
      </p:pic>
      <p:pic>
        <p:nvPicPr>
          <p:cNvPr id="14" name="Picture 13" descr="zoom_us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868773"/>
            <a:ext cx="5349240" cy="20688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5801</Words>
  <Application>WPS 演示</Application>
  <PresentationFormat>On-screen Show (4:3)</PresentationFormat>
  <Paragraphs>477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佀佳超</cp:lastModifiedBy>
  <cp:revision>3</cp:revision>
  <dcterms:created xsi:type="dcterms:W3CDTF">2013-01-27T09:14:00Z</dcterms:created>
  <dcterms:modified xsi:type="dcterms:W3CDTF">2026-10-10T14:06:33Z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B082185DECEE411BAA7EF4B8894FDFC9_12</vt:lpwstr>
  </property>
</Properties>
</file>